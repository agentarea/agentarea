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2A44"/>
                </a:solidFill>
                <a:latin typeface="Arial"/>
              </a:rPr>
              <a:t>Конкурентный ландшафт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7C879B"/>
                </a:solidFill>
                <a:latin typeface="Arial"/>
              </a:rPr>
              <a:t>Инструментов для создания агентов много. Но рынок делится по двум осям, которые на самом деле определяют ценность для enterprise.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5074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7" y="280720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5AE6"/>
                </a:solidFill>
                <a:latin typeface="Arial"/>
              </a:rPr>
              <a:t>ОСЬ X · ОТКРЫТОСТЬ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3154680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E2A44"/>
                </a:solidFill>
                <a:latin typeface="Arial"/>
              </a:rPr>
              <a:t>Проприетарный лок vs. vendor-neutral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4069080"/>
            <a:ext cx="4343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C879B"/>
                </a:solidFill>
                <a:latin typeface="Arial"/>
              </a:rPr>
              <a:t>Закрытая платформа с привязкой к одному вендору — или open-source и независимость от облака и модели.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46451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0C0"/>
                </a:solidFill>
                <a:latin typeface="Arial"/>
              </a:rPr>
              <a:t>Vendor-lock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736592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6D5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6451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2A44"/>
                </a:solidFill>
                <a:latin typeface="Arial"/>
              </a:rPr>
              <a:t>Open / neutral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14600"/>
            <a:ext cx="5074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80720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5AE6"/>
                </a:solidFill>
                <a:latin typeface="Arial"/>
              </a:rPr>
              <a:t>ОСЬ Y · ЗРЕЛОСТЬ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154680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E2A44"/>
                </a:solidFill>
                <a:latin typeface="Arial"/>
              </a:rPr>
              <a:t>Просто собрать агента vs.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069080"/>
            <a:ext cx="4343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C879B"/>
                </a:solidFill>
                <a:latin typeface="Arial"/>
              </a:rPr>
              <a:t>Сделать одного агента легко. Сложнее — запустить сеть агентов в проде: доступы, бюджеты, аудит, доводимость задач.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6451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0C0"/>
                </a:solidFill>
                <a:latin typeface="Arial"/>
              </a:rPr>
              <a:t>Agent builder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736592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6D5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6451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2A44"/>
                </a:solidFill>
                <a:latin typeface="Arial"/>
              </a:rPr>
              <a:t>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E2A44"/>
                </a:solidFill>
                <a:latin typeface="Arial"/>
              </a:rPr>
              <a:t>Большинство решений сильны в одном углу. </a:t>
            </a:r>
            <a:r>
              <a:rPr sz="1600" b="1">
                <a:solidFill>
                  <a:srgbClr val="5847C9"/>
                </a:solidFill>
                <a:latin typeface="Arial"/>
              </a:rPr>
              <a:t>AgentArea — единственная в квадранте «open + control plane»</a:t>
            </a:r>
            <a:r>
              <a:rPr sz="1600" b="0">
                <a:solidFill>
                  <a:srgbClr val="1E2A44"/>
                </a:solidFill>
                <a:latin typeface="Arial"/>
              </a:rPr>
              <a:t>: управляемость уровня enterprise без привязки к вендору.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Arial"/>
              </a:rPr>
              <a:t>agentarea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6537960"/>
            <a:ext cx="9326879" cy="0"/>
          </a:xfrm>
          <a:prstGeom prst="bentConnector3">
            <a:avLst/>
          </a:prstGeom>
          <a:ln w="12700">
            <a:solidFill>
              <a:srgbClr val="E6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55680" y="635508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A7B0C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2A44"/>
                </a:solidFill>
                <a:latin typeface="Arial"/>
              </a:rPr>
              <a:t>Конкуренты</a:t>
            </a:r>
          </a:p>
        </p:txBody>
      </p:sp>
      <p:sp>
        <p:nvSpPr>
          <p:cNvPr id="4" name="Oval 3"/>
          <p:cNvSpPr/>
          <p:nvPr/>
        </p:nvSpPr>
        <p:spPr>
          <a:xfrm>
            <a:off x="9116568" y="768096"/>
            <a:ext cx="146304" cy="146304"/>
          </a:xfrm>
          <a:prstGeom prst="ellipse">
            <a:avLst/>
          </a:prstGeom>
          <a:solidFill>
            <a:srgbClr val="6D5AE6"/>
          </a:solidFill>
          <a:ln>
            <a:solidFill>
              <a:srgbClr val="6D5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676656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7C879B"/>
                </a:solidFill>
                <a:latin typeface="Arial"/>
              </a:rPr>
              <a:t>AgentArea</a:t>
            </a:r>
          </a:p>
        </p:txBody>
      </p:sp>
      <p:sp>
        <p:nvSpPr>
          <p:cNvPr id="6" name="Oval 5"/>
          <p:cNvSpPr/>
          <p:nvPr/>
        </p:nvSpPr>
        <p:spPr>
          <a:xfrm>
            <a:off x="10497312" y="777240"/>
            <a:ext cx="128016" cy="128016"/>
          </a:xfrm>
          <a:prstGeom prst="ellipse">
            <a:avLst/>
          </a:prstGeom>
          <a:solidFill>
            <a:srgbClr val="A7B0C0"/>
          </a:solidFill>
          <a:ln>
            <a:solidFill>
              <a:srgbClr val="A7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76656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7C879B"/>
                </a:solidFill>
                <a:latin typeface="Arial"/>
              </a:rPr>
              <a:t>Конкуренты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9340" y="1554480"/>
            <a:ext cx="4732020" cy="2080260"/>
          </a:xfrm>
          <a:prstGeom prst="rect">
            <a:avLst/>
          </a:prstGeom>
          <a:solidFill>
            <a:srgbClr val="EE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1554480"/>
            <a:ext cx="9464040" cy="416052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E6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149340" y="1554480"/>
            <a:ext cx="0" cy="4160520"/>
          </a:xfrm>
          <a:prstGeom prst="bentConnector3">
            <a:avLst/>
          </a:prstGeom>
          <a:ln w="12700">
            <a:solidFill>
              <a:srgbClr val="E6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20" y="3634739"/>
            <a:ext cx="9464040" cy="0"/>
          </a:xfrm>
          <a:prstGeom prst="bentConnector3">
            <a:avLst/>
          </a:prstGeom>
          <a:ln w="12700">
            <a:solidFill>
              <a:srgbClr val="E6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32220" y="1664207"/>
            <a:ext cx="43479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5847C9"/>
                </a:solidFill>
                <a:latin typeface="Arial"/>
              </a:rPr>
              <a:t>OPEN + GOVERNED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664207"/>
            <a:ext cx="42748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0C0"/>
                </a:solidFill>
                <a:latin typeface="Arial"/>
              </a:rPr>
              <a:t>Закрытый,</a:t>
            </a:r>
          </a:p>
          <a:p>
            <a:pPr algn="l"/>
            <a:r>
              <a:rPr sz="1100" b="0">
                <a:solidFill>
                  <a:srgbClr val="A7B0C0"/>
                </a:solidFill>
                <a:latin typeface="Arial"/>
              </a:rPr>
              <a:t>но управляемый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5330952"/>
            <a:ext cx="42748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0C0"/>
                </a:solidFill>
                <a:latin typeface="Arial"/>
              </a:rPr>
              <a:t>Закрытый конструктор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5166360"/>
            <a:ext cx="43479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7B0C0"/>
                </a:solidFill>
                <a:latin typeface="Arial"/>
              </a:rPr>
              <a:t>Открытый,</a:t>
            </a:r>
          </a:p>
          <a:p>
            <a:pPr algn="r"/>
            <a:r>
              <a:rPr sz="1100" b="0">
                <a:solidFill>
                  <a:srgbClr val="A7B0C0"/>
                </a:solidFill>
                <a:latin typeface="Arial"/>
              </a:rPr>
              <a:t>но только сборка</a:t>
            </a:r>
          </a:p>
        </p:txBody>
      </p:sp>
      <p:sp>
        <p:nvSpPr>
          <p:cNvPr id="16" name="Oval 15"/>
          <p:cNvSpPr/>
          <p:nvPr/>
        </p:nvSpPr>
        <p:spPr>
          <a:xfrm>
            <a:off x="8680399" y="2267712"/>
            <a:ext cx="237744" cy="237744"/>
          </a:xfrm>
          <a:prstGeom prst="ellipse">
            <a:avLst/>
          </a:prstGeom>
          <a:solidFill>
            <a:srgbClr val="6D5AE6"/>
          </a:solidFill>
          <a:ln>
            <a:solidFill>
              <a:srgbClr val="6D5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2151" y="2203703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5847C9"/>
                </a:solidFill>
                <a:latin typeface="Arial"/>
              </a:rPr>
              <a:t>AgentArea</a:t>
            </a:r>
          </a:p>
        </p:txBody>
      </p:sp>
      <p:sp>
        <p:nvSpPr>
          <p:cNvPr id="18" name="Oval 17"/>
          <p:cNvSpPr/>
          <p:nvPr/>
        </p:nvSpPr>
        <p:spPr>
          <a:xfrm>
            <a:off x="7964423" y="4264304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452" y="417743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A44"/>
                </a:solidFill>
                <a:latin typeface="Arial"/>
              </a:rPr>
              <a:t>Inkeep</a:t>
            </a:r>
          </a:p>
        </p:txBody>
      </p:sp>
      <p:sp>
        <p:nvSpPr>
          <p:cNvPr id="20" name="Oval 19"/>
          <p:cNvSpPr/>
          <p:nvPr/>
        </p:nvSpPr>
        <p:spPr>
          <a:xfrm>
            <a:off x="5219852" y="3265779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3880" y="3178911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A44"/>
                </a:solidFill>
                <a:latin typeface="Arial"/>
              </a:rPr>
              <a:t>xpander.ai</a:t>
            </a:r>
          </a:p>
        </p:txBody>
      </p:sp>
      <p:sp>
        <p:nvSpPr>
          <p:cNvPr id="22" name="Oval 21"/>
          <p:cNvSpPr/>
          <p:nvPr/>
        </p:nvSpPr>
        <p:spPr>
          <a:xfrm>
            <a:off x="3894886" y="4264304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914" y="417743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A44"/>
                </a:solidFill>
                <a:latin typeface="Arial"/>
              </a:rPr>
              <a:t>Relevance AI</a:t>
            </a:r>
          </a:p>
        </p:txBody>
      </p:sp>
      <p:sp>
        <p:nvSpPr>
          <p:cNvPr id="24" name="Oval 23"/>
          <p:cNvSpPr/>
          <p:nvPr/>
        </p:nvSpPr>
        <p:spPr>
          <a:xfrm>
            <a:off x="3327044" y="4763566"/>
            <a:ext cx="155448" cy="155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7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1072" y="467669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A44"/>
                </a:solidFill>
                <a:latin typeface="Arial"/>
              </a:rPr>
              <a:t>Lindy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645920"/>
            <a:ext cx="365760" cy="1828800"/>
          </a:xfrm>
          <a:prstGeom prst="rect">
            <a:avLst/>
          </a:prstGeom>
          <a:noFill/>
        </p:spPr>
        <p:txBody>
          <a:bodyPr wrap="none" lIns="0" rIns="0" tIns="0" bIns="0" vert="vert270">
            <a:spAutoFit/>
          </a:bodyPr>
          <a:lstStyle/>
          <a:p>
            <a:pPr algn="ctr"/>
            <a:r>
              <a:rPr sz="1200" b="1">
                <a:solidFill>
                  <a:srgbClr val="1E2A44"/>
                </a:solidFill>
                <a:latin typeface="Arial"/>
              </a:rPr>
              <a:t>CONTROL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94760"/>
            <a:ext cx="365760" cy="1828800"/>
          </a:xfrm>
          <a:prstGeom prst="rect">
            <a:avLst/>
          </a:prstGeom>
          <a:noFill/>
        </p:spPr>
        <p:txBody>
          <a:bodyPr wrap="none" lIns="0" rIns="0" tIns="0" bIns="0" vert="vert270">
            <a:spAutoFit/>
          </a:bodyPr>
          <a:lstStyle/>
          <a:p>
            <a:pPr algn="ctr"/>
            <a:r>
              <a:rPr sz="1200" b="1">
                <a:solidFill>
                  <a:srgbClr val="A7B0C0"/>
                </a:solidFill>
                <a:latin typeface="Arial"/>
              </a:rPr>
              <a:t>СОБРАТЬ АГЕНТА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824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0C0"/>
                </a:solidFill>
                <a:latin typeface="Arial"/>
              </a:rPr>
              <a:t>ПРОПРИЕТАРНЫЙ · VENDOR-LOCK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824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2A44"/>
                </a:solidFill>
                <a:latin typeface="Arial"/>
              </a:rPr>
              <a:t>OPEN-SOURCE · VENDOR-NEUTRAL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Arial"/>
              </a:rPr>
              <a:t>agentarea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80" y="6537960"/>
            <a:ext cx="9326879" cy="0"/>
          </a:xfrm>
          <a:prstGeom prst="bentConnector3">
            <a:avLst/>
          </a:prstGeom>
          <a:ln w="12700">
            <a:solidFill>
              <a:srgbClr val="E6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155680" y="635508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A7B0C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